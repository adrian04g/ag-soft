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261" r:id="rId3"/>
    <p:sldId id="257" r:id="rId4"/>
    <p:sldId id="265" r:id="rId5"/>
    <p:sldId id="274" r:id="rId6"/>
    <p:sldId id="275" r:id="rId7"/>
    <p:sldId id="276" r:id="rId8"/>
    <p:sldId id="277" r:id="rId9"/>
    <p:sldId id="278" r:id="rId10"/>
    <p:sldId id="281" r:id="rId11"/>
    <p:sldId id="279" r:id="rId12"/>
    <p:sldId id="283" r:id="rId13"/>
    <p:sldId id="284" r:id="rId14"/>
    <p:sldId id="280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660"/>
  </p:normalViewPr>
  <p:slideViewPr>
    <p:cSldViewPr snapToGrid="0">
      <p:cViewPr>
        <p:scale>
          <a:sx n="66" d="100"/>
          <a:sy n="66" d="100"/>
        </p:scale>
        <p:origin x="144" y="2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3-04-05T22:45:54.344" idx="9">
    <p:pos x="10" y="10"/>
    <p:text/>
    <p:extLst mod="1">
      <p:ext uri="{C676402C-5697-4E1C-873F-D02D1690AC5C}">
        <p15:threadingInfo xmlns:p15="http://schemas.microsoft.com/office/powerpoint/2012/main" timeZoneBias="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A9F1E-CAC6-4527-BE4E-9EFC0B5397C5}" type="doc">
      <dgm:prSet loTypeId="urn:microsoft.com/office/officeart/2005/8/layout/lProcess2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7B499D8C-0777-41EC-8991-C2D0AC36977E}">
      <dgm:prSet phldrT="[Texto]" custT="1"/>
      <dgm:spPr/>
      <dgm:t>
        <a:bodyPr/>
        <a:lstStyle/>
        <a:p>
          <a:r>
            <a:rPr lang="es-CO" sz="2400" dirty="0" smtClean="0"/>
            <a:t>C# 6.0</a:t>
          </a:r>
          <a:endParaRPr lang="es-CO" sz="2400" dirty="0" smtClean="0"/>
        </a:p>
        <a:p>
          <a:r>
            <a:rPr lang="es-CO" sz="2400" dirty="0" err="1" smtClean="0"/>
            <a:t>VisualStudio</a:t>
          </a:r>
          <a:r>
            <a:rPr lang="es-CO" sz="2400" dirty="0" smtClean="0"/>
            <a:t> </a:t>
          </a:r>
          <a:r>
            <a:rPr lang="es-CO" sz="2400" dirty="0" smtClean="0"/>
            <a:t>2015</a:t>
          </a:r>
          <a:endParaRPr lang="es-CO" sz="2400" dirty="0"/>
        </a:p>
      </dgm:t>
    </dgm:pt>
    <dgm:pt modelId="{AB7BC01A-AE38-4168-A442-7D4F69340DB8}" type="parTrans" cxnId="{4C426EB1-A2BF-4AD6-B9D6-11EBEEDAE02B}">
      <dgm:prSet/>
      <dgm:spPr/>
      <dgm:t>
        <a:bodyPr/>
        <a:lstStyle/>
        <a:p>
          <a:endParaRPr lang="es-CO"/>
        </a:p>
      </dgm:t>
    </dgm:pt>
    <dgm:pt modelId="{DBECCCC9-CD4F-40B2-A4A9-741432F38104}" type="sibTrans" cxnId="{4C426EB1-A2BF-4AD6-B9D6-11EBEEDAE02B}">
      <dgm:prSet/>
      <dgm:spPr/>
      <dgm:t>
        <a:bodyPr/>
        <a:lstStyle/>
        <a:p>
          <a:endParaRPr lang="es-CO"/>
        </a:p>
      </dgm:t>
    </dgm:pt>
    <dgm:pt modelId="{D22DD1DA-FAD3-4BA2-A695-F96AFF0912DC}">
      <dgm:prSet phldrT="[Texto]"/>
      <dgm:spPr/>
      <dgm:t>
        <a:bodyPr/>
        <a:lstStyle/>
        <a:p>
          <a:r>
            <a:rPr lang="es-CO" dirty="0" smtClean="0"/>
            <a:t>Bases de Datos</a:t>
          </a:r>
          <a:endParaRPr lang="es-CO" dirty="0"/>
        </a:p>
      </dgm:t>
    </dgm:pt>
    <dgm:pt modelId="{870E9FBA-4B5F-46AA-BB0E-731E15EAE45F}" type="parTrans" cxnId="{D44BD674-78C8-4419-A898-54AF2AAD2B30}">
      <dgm:prSet/>
      <dgm:spPr/>
      <dgm:t>
        <a:bodyPr/>
        <a:lstStyle/>
        <a:p>
          <a:endParaRPr lang="es-CO"/>
        </a:p>
      </dgm:t>
    </dgm:pt>
    <dgm:pt modelId="{1A33CBAD-CC38-4AD4-B291-3F5A13F04A80}" type="sibTrans" cxnId="{D44BD674-78C8-4419-A898-54AF2AAD2B30}">
      <dgm:prSet/>
      <dgm:spPr/>
      <dgm:t>
        <a:bodyPr/>
        <a:lstStyle/>
        <a:p>
          <a:endParaRPr lang="es-CO"/>
        </a:p>
      </dgm:t>
    </dgm:pt>
    <dgm:pt modelId="{4236AF17-A51E-4976-8A13-8BFE5EDCCAA9}">
      <dgm:prSet phldrT="[Texto]" custT="1"/>
      <dgm:spPr/>
      <dgm:t>
        <a:bodyPr/>
        <a:lstStyle/>
        <a:p>
          <a:r>
            <a:rPr lang="es-CO" sz="2400" dirty="0" smtClean="0"/>
            <a:t>Microsoft SQL </a:t>
          </a:r>
          <a:r>
            <a:rPr lang="es-CO" sz="2400" dirty="0" smtClean="0"/>
            <a:t>Server</a:t>
          </a:r>
          <a:endParaRPr lang="es-CO" sz="2400" dirty="0" smtClean="0"/>
        </a:p>
      </dgm:t>
    </dgm:pt>
    <dgm:pt modelId="{EB24C6FA-1D71-444A-AD7F-9668DB9A9710}" type="parTrans" cxnId="{77A568D8-A183-4B14-B8EB-9F451FCEC4A4}">
      <dgm:prSet/>
      <dgm:spPr/>
      <dgm:t>
        <a:bodyPr/>
        <a:lstStyle/>
        <a:p>
          <a:endParaRPr lang="es-CO"/>
        </a:p>
      </dgm:t>
    </dgm:pt>
    <dgm:pt modelId="{4D3E4AD8-7963-4381-9EF6-F4686E1F7711}" type="sibTrans" cxnId="{77A568D8-A183-4B14-B8EB-9F451FCEC4A4}">
      <dgm:prSet/>
      <dgm:spPr/>
      <dgm:t>
        <a:bodyPr/>
        <a:lstStyle/>
        <a:p>
          <a:endParaRPr lang="es-CO"/>
        </a:p>
      </dgm:t>
    </dgm:pt>
    <dgm:pt modelId="{DAA9CBDD-F841-41AD-8E4B-766756033B94}">
      <dgm:prSet phldrT="[Texto]"/>
      <dgm:spPr/>
      <dgm:t>
        <a:bodyPr/>
        <a:lstStyle/>
        <a:p>
          <a:r>
            <a:rPr lang="es-CO" dirty="0" smtClean="0"/>
            <a:t>Herramientas de Desarrollo</a:t>
          </a:r>
          <a:endParaRPr lang="es-CO" dirty="0"/>
        </a:p>
      </dgm:t>
    </dgm:pt>
    <dgm:pt modelId="{0B297B75-E8F3-4DDD-BCF2-4AF2F36E8896}" type="sibTrans" cxnId="{982043DC-1B0D-4B61-A0AB-6C853470ECD7}">
      <dgm:prSet/>
      <dgm:spPr/>
      <dgm:t>
        <a:bodyPr/>
        <a:lstStyle/>
        <a:p>
          <a:endParaRPr lang="es-CO"/>
        </a:p>
      </dgm:t>
    </dgm:pt>
    <dgm:pt modelId="{1145C791-FE52-4483-8D29-1F1447DC4997}" type="parTrans" cxnId="{982043DC-1B0D-4B61-A0AB-6C853470ECD7}">
      <dgm:prSet/>
      <dgm:spPr/>
      <dgm:t>
        <a:bodyPr/>
        <a:lstStyle/>
        <a:p>
          <a:endParaRPr lang="es-CO"/>
        </a:p>
      </dgm:t>
    </dgm:pt>
    <dgm:pt modelId="{31AFD92D-2A45-4514-BE12-B23E7343C8B1}" type="pres">
      <dgm:prSet presAssocID="{D2FA9F1E-CAC6-4527-BE4E-9EFC0B5397C5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94DA6472-E921-4DD9-AC49-CDB805539087}" type="pres">
      <dgm:prSet presAssocID="{DAA9CBDD-F841-41AD-8E4B-766756033B94}" presName="compNode" presStyleCnt="0"/>
      <dgm:spPr/>
    </dgm:pt>
    <dgm:pt modelId="{4F1467B3-B692-41E7-8882-1B5389A940A5}" type="pres">
      <dgm:prSet presAssocID="{DAA9CBDD-F841-41AD-8E4B-766756033B94}" presName="aNode" presStyleLbl="bgShp" presStyleIdx="0" presStyleCnt="2"/>
      <dgm:spPr/>
      <dgm:t>
        <a:bodyPr/>
        <a:lstStyle/>
        <a:p>
          <a:endParaRPr lang="es-CO"/>
        </a:p>
      </dgm:t>
    </dgm:pt>
    <dgm:pt modelId="{1817EDDC-C786-41DF-83C1-D3167231238F}" type="pres">
      <dgm:prSet presAssocID="{DAA9CBDD-F841-41AD-8E4B-766756033B94}" presName="textNode" presStyleLbl="bgShp" presStyleIdx="0" presStyleCnt="2"/>
      <dgm:spPr/>
      <dgm:t>
        <a:bodyPr/>
        <a:lstStyle/>
        <a:p>
          <a:endParaRPr lang="es-CO"/>
        </a:p>
      </dgm:t>
    </dgm:pt>
    <dgm:pt modelId="{24070799-6412-48A2-96C5-97DB7A21E078}" type="pres">
      <dgm:prSet presAssocID="{DAA9CBDD-F841-41AD-8E4B-766756033B94}" presName="compChildNode" presStyleCnt="0"/>
      <dgm:spPr/>
    </dgm:pt>
    <dgm:pt modelId="{D9FB9372-32A1-4D0B-8793-4EA44FC92B66}" type="pres">
      <dgm:prSet presAssocID="{DAA9CBDD-F841-41AD-8E4B-766756033B94}" presName="theInnerList" presStyleCnt="0"/>
      <dgm:spPr/>
    </dgm:pt>
    <dgm:pt modelId="{84A2C0D3-14F0-42B8-A90A-3BA69E0EE843}" type="pres">
      <dgm:prSet presAssocID="{7B499D8C-0777-41EC-8991-C2D0AC36977E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9BC97F7-93D3-4FB7-A0E8-93169691380F}" type="pres">
      <dgm:prSet presAssocID="{DAA9CBDD-F841-41AD-8E4B-766756033B94}" presName="aSpace" presStyleCnt="0"/>
      <dgm:spPr/>
    </dgm:pt>
    <dgm:pt modelId="{95475FEF-E8CC-4AE5-935B-ECE3B7AA0D68}" type="pres">
      <dgm:prSet presAssocID="{D22DD1DA-FAD3-4BA2-A695-F96AFF0912DC}" presName="compNode" presStyleCnt="0"/>
      <dgm:spPr/>
    </dgm:pt>
    <dgm:pt modelId="{158B2E78-96FA-48D0-9B81-921F44FC2A8B}" type="pres">
      <dgm:prSet presAssocID="{D22DD1DA-FAD3-4BA2-A695-F96AFF0912DC}" presName="aNode" presStyleLbl="bgShp" presStyleIdx="1" presStyleCnt="2"/>
      <dgm:spPr/>
      <dgm:t>
        <a:bodyPr/>
        <a:lstStyle/>
        <a:p>
          <a:endParaRPr lang="es-CO"/>
        </a:p>
      </dgm:t>
    </dgm:pt>
    <dgm:pt modelId="{2CB00138-36EB-47DF-9F09-1D234DD612E6}" type="pres">
      <dgm:prSet presAssocID="{D22DD1DA-FAD3-4BA2-A695-F96AFF0912DC}" presName="textNode" presStyleLbl="bgShp" presStyleIdx="1" presStyleCnt="2"/>
      <dgm:spPr/>
      <dgm:t>
        <a:bodyPr/>
        <a:lstStyle/>
        <a:p>
          <a:endParaRPr lang="es-CO"/>
        </a:p>
      </dgm:t>
    </dgm:pt>
    <dgm:pt modelId="{48C4E8D6-5EC2-4DC0-807B-F28744A29758}" type="pres">
      <dgm:prSet presAssocID="{D22DD1DA-FAD3-4BA2-A695-F96AFF0912DC}" presName="compChildNode" presStyleCnt="0"/>
      <dgm:spPr/>
    </dgm:pt>
    <dgm:pt modelId="{35154DC2-5CBD-44EE-B07D-649A2DE69D45}" type="pres">
      <dgm:prSet presAssocID="{D22DD1DA-FAD3-4BA2-A695-F96AFF0912DC}" presName="theInnerList" presStyleCnt="0"/>
      <dgm:spPr/>
    </dgm:pt>
    <dgm:pt modelId="{107972A9-EEC9-4BC3-9E47-804B60BA8F38}" type="pres">
      <dgm:prSet presAssocID="{4236AF17-A51E-4976-8A13-8BFE5EDCCAA9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D1A20A64-3017-477C-B92B-8A5D5C1CB235}" type="presOf" srcId="{D22DD1DA-FAD3-4BA2-A695-F96AFF0912DC}" destId="{158B2E78-96FA-48D0-9B81-921F44FC2A8B}" srcOrd="0" destOrd="0" presId="urn:microsoft.com/office/officeart/2005/8/layout/lProcess2"/>
    <dgm:cxn modelId="{92D8AAD6-53C8-4073-9AA9-2F47570539C4}" type="presOf" srcId="{D22DD1DA-FAD3-4BA2-A695-F96AFF0912DC}" destId="{2CB00138-36EB-47DF-9F09-1D234DD612E6}" srcOrd="1" destOrd="0" presId="urn:microsoft.com/office/officeart/2005/8/layout/lProcess2"/>
    <dgm:cxn modelId="{7D8F54A9-FDE0-4B7C-A798-0658E8AB5E28}" type="presOf" srcId="{DAA9CBDD-F841-41AD-8E4B-766756033B94}" destId="{1817EDDC-C786-41DF-83C1-D3167231238F}" srcOrd="1" destOrd="0" presId="urn:microsoft.com/office/officeart/2005/8/layout/lProcess2"/>
    <dgm:cxn modelId="{4C426EB1-A2BF-4AD6-B9D6-11EBEEDAE02B}" srcId="{DAA9CBDD-F841-41AD-8E4B-766756033B94}" destId="{7B499D8C-0777-41EC-8991-C2D0AC36977E}" srcOrd="0" destOrd="0" parTransId="{AB7BC01A-AE38-4168-A442-7D4F69340DB8}" sibTransId="{DBECCCC9-CD4F-40B2-A4A9-741432F38104}"/>
    <dgm:cxn modelId="{81626956-6C1D-4D83-8640-9315BE04C3B2}" type="presOf" srcId="{D2FA9F1E-CAC6-4527-BE4E-9EFC0B5397C5}" destId="{31AFD92D-2A45-4514-BE12-B23E7343C8B1}" srcOrd="0" destOrd="0" presId="urn:microsoft.com/office/officeart/2005/8/layout/lProcess2"/>
    <dgm:cxn modelId="{163B73AC-CABA-45F6-A26E-125AB289F707}" type="presOf" srcId="{7B499D8C-0777-41EC-8991-C2D0AC36977E}" destId="{84A2C0D3-14F0-42B8-A90A-3BA69E0EE843}" srcOrd="0" destOrd="0" presId="urn:microsoft.com/office/officeart/2005/8/layout/lProcess2"/>
    <dgm:cxn modelId="{D44BD674-78C8-4419-A898-54AF2AAD2B30}" srcId="{D2FA9F1E-CAC6-4527-BE4E-9EFC0B5397C5}" destId="{D22DD1DA-FAD3-4BA2-A695-F96AFF0912DC}" srcOrd="1" destOrd="0" parTransId="{870E9FBA-4B5F-46AA-BB0E-731E15EAE45F}" sibTransId="{1A33CBAD-CC38-4AD4-B291-3F5A13F04A80}"/>
    <dgm:cxn modelId="{17B778F3-6F14-4C00-8BC3-4AEE9F8C5085}" type="presOf" srcId="{4236AF17-A51E-4976-8A13-8BFE5EDCCAA9}" destId="{107972A9-EEC9-4BC3-9E47-804B60BA8F38}" srcOrd="0" destOrd="0" presId="urn:microsoft.com/office/officeart/2005/8/layout/lProcess2"/>
    <dgm:cxn modelId="{476872BB-A488-4DB5-9936-EC9C7DB5257C}" type="presOf" srcId="{DAA9CBDD-F841-41AD-8E4B-766756033B94}" destId="{4F1467B3-B692-41E7-8882-1B5389A940A5}" srcOrd="0" destOrd="0" presId="urn:microsoft.com/office/officeart/2005/8/layout/lProcess2"/>
    <dgm:cxn modelId="{77A568D8-A183-4B14-B8EB-9F451FCEC4A4}" srcId="{D22DD1DA-FAD3-4BA2-A695-F96AFF0912DC}" destId="{4236AF17-A51E-4976-8A13-8BFE5EDCCAA9}" srcOrd="0" destOrd="0" parTransId="{EB24C6FA-1D71-444A-AD7F-9668DB9A9710}" sibTransId="{4D3E4AD8-7963-4381-9EF6-F4686E1F7711}"/>
    <dgm:cxn modelId="{982043DC-1B0D-4B61-A0AB-6C853470ECD7}" srcId="{D2FA9F1E-CAC6-4527-BE4E-9EFC0B5397C5}" destId="{DAA9CBDD-F841-41AD-8E4B-766756033B94}" srcOrd="0" destOrd="0" parTransId="{1145C791-FE52-4483-8D29-1F1447DC4997}" sibTransId="{0B297B75-E8F3-4DDD-BCF2-4AF2F36E8896}"/>
    <dgm:cxn modelId="{9D94B3B0-948D-47E1-BF9E-4B88C5079CF8}" type="presParOf" srcId="{31AFD92D-2A45-4514-BE12-B23E7343C8B1}" destId="{94DA6472-E921-4DD9-AC49-CDB805539087}" srcOrd="0" destOrd="0" presId="urn:microsoft.com/office/officeart/2005/8/layout/lProcess2"/>
    <dgm:cxn modelId="{430AD21E-5E08-480D-8038-E680C50D7801}" type="presParOf" srcId="{94DA6472-E921-4DD9-AC49-CDB805539087}" destId="{4F1467B3-B692-41E7-8882-1B5389A940A5}" srcOrd="0" destOrd="0" presId="urn:microsoft.com/office/officeart/2005/8/layout/lProcess2"/>
    <dgm:cxn modelId="{7194092B-7342-41B6-9DE2-495AE0E35E26}" type="presParOf" srcId="{94DA6472-E921-4DD9-AC49-CDB805539087}" destId="{1817EDDC-C786-41DF-83C1-D3167231238F}" srcOrd="1" destOrd="0" presId="urn:microsoft.com/office/officeart/2005/8/layout/lProcess2"/>
    <dgm:cxn modelId="{7BECD442-3510-4ACD-BFEE-82B5E413F784}" type="presParOf" srcId="{94DA6472-E921-4DD9-AC49-CDB805539087}" destId="{24070799-6412-48A2-96C5-97DB7A21E078}" srcOrd="2" destOrd="0" presId="urn:microsoft.com/office/officeart/2005/8/layout/lProcess2"/>
    <dgm:cxn modelId="{E356528A-4C4E-4918-AFA5-7A54D9CFC467}" type="presParOf" srcId="{24070799-6412-48A2-96C5-97DB7A21E078}" destId="{D9FB9372-32A1-4D0B-8793-4EA44FC92B66}" srcOrd="0" destOrd="0" presId="urn:microsoft.com/office/officeart/2005/8/layout/lProcess2"/>
    <dgm:cxn modelId="{7F854196-89A0-46AF-8BB5-C8F1B264C2EC}" type="presParOf" srcId="{D9FB9372-32A1-4D0B-8793-4EA44FC92B66}" destId="{84A2C0D3-14F0-42B8-A90A-3BA69E0EE843}" srcOrd="0" destOrd="0" presId="urn:microsoft.com/office/officeart/2005/8/layout/lProcess2"/>
    <dgm:cxn modelId="{376917FC-FFFE-4FB0-91A7-480961D971FF}" type="presParOf" srcId="{31AFD92D-2A45-4514-BE12-B23E7343C8B1}" destId="{19BC97F7-93D3-4FB7-A0E8-93169691380F}" srcOrd="1" destOrd="0" presId="urn:microsoft.com/office/officeart/2005/8/layout/lProcess2"/>
    <dgm:cxn modelId="{5A0930A9-7ADC-4928-BA78-A5DEC709C1C6}" type="presParOf" srcId="{31AFD92D-2A45-4514-BE12-B23E7343C8B1}" destId="{95475FEF-E8CC-4AE5-935B-ECE3B7AA0D68}" srcOrd="2" destOrd="0" presId="urn:microsoft.com/office/officeart/2005/8/layout/lProcess2"/>
    <dgm:cxn modelId="{2EA2BC9D-FD9B-4F48-A7EA-4597DEBC5C66}" type="presParOf" srcId="{95475FEF-E8CC-4AE5-935B-ECE3B7AA0D68}" destId="{158B2E78-96FA-48D0-9B81-921F44FC2A8B}" srcOrd="0" destOrd="0" presId="urn:microsoft.com/office/officeart/2005/8/layout/lProcess2"/>
    <dgm:cxn modelId="{DE975EEE-F4E5-456F-9ED8-90FFC532EA0D}" type="presParOf" srcId="{95475FEF-E8CC-4AE5-935B-ECE3B7AA0D68}" destId="{2CB00138-36EB-47DF-9F09-1D234DD612E6}" srcOrd="1" destOrd="0" presId="urn:microsoft.com/office/officeart/2005/8/layout/lProcess2"/>
    <dgm:cxn modelId="{D255AD6A-A53A-4E3E-9A0A-007E9D0B8CE1}" type="presParOf" srcId="{95475FEF-E8CC-4AE5-935B-ECE3B7AA0D68}" destId="{48C4E8D6-5EC2-4DC0-807B-F28744A29758}" srcOrd="2" destOrd="0" presId="urn:microsoft.com/office/officeart/2005/8/layout/lProcess2"/>
    <dgm:cxn modelId="{3D730250-80F3-47A1-99DB-A24FD376B1EF}" type="presParOf" srcId="{48C4E8D6-5EC2-4DC0-807B-F28744A29758}" destId="{35154DC2-5CBD-44EE-B07D-649A2DE69D45}" srcOrd="0" destOrd="0" presId="urn:microsoft.com/office/officeart/2005/8/layout/lProcess2"/>
    <dgm:cxn modelId="{B3BDA53B-2149-4260-B6EE-F8D7ED3FB182}" type="presParOf" srcId="{35154DC2-5CBD-44EE-B07D-649A2DE69D45}" destId="{107972A9-EEC9-4BC3-9E47-804B60BA8F38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467B3-B692-41E7-8882-1B5389A940A5}">
      <dsp:nvSpPr>
        <dsp:cNvPr id="0" name=""/>
        <dsp:cNvSpPr/>
      </dsp:nvSpPr>
      <dsp:spPr>
        <a:xfrm>
          <a:off x="4703" y="0"/>
          <a:ext cx="4524292" cy="381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300" kern="1200" dirty="0" smtClean="0"/>
            <a:t>Herramientas de Desarrollo</a:t>
          </a:r>
          <a:endParaRPr lang="es-CO" sz="3300" kern="1200" dirty="0"/>
        </a:p>
      </dsp:txBody>
      <dsp:txXfrm>
        <a:off x="4703" y="0"/>
        <a:ext cx="4524292" cy="1145857"/>
      </dsp:txXfrm>
    </dsp:sp>
    <dsp:sp modelId="{84A2C0D3-14F0-42B8-A90A-3BA69E0EE843}">
      <dsp:nvSpPr>
        <dsp:cNvPr id="0" name=""/>
        <dsp:cNvSpPr/>
      </dsp:nvSpPr>
      <dsp:spPr>
        <a:xfrm>
          <a:off x="457132" y="1145857"/>
          <a:ext cx="3619434" cy="24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400" kern="1200" dirty="0" smtClean="0"/>
            <a:t>C# 6.0</a:t>
          </a:r>
          <a:endParaRPr lang="es-CO" sz="2400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400" kern="1200" dirty="0" err="1" smtClean="0"/>
            <a:t>VisualStudio</a:t>
          </a:r>
          <a:r>
            <a:rPr lang="es-CO" sz="2400" kern="1200" dirty="0" smtClean="0"/>
            <a:t> </a:t>
          </a:r>
          <a:r>
            <a:rPr lang="es-CO" sz="2400" kern="1200" dirty="0" smtClean="0"/>
            <a:t>2015</a:t>
          </a:r>
          <a:endParaRPr lang="es-CO" sz="2400" kern="1200" dirty="0"/>
        </a:p>
      </dsp:txBody>
      <dsp:txXfrm>
        <a:off x="529848" y="1218573"/>
        <a:ext cx="3474002" cy="2337259"/>
      </dsp:txXfrm>
    </dsp:sp>
    <dsp:sp modelId="{158B2E78-96FA-48D0-9B81-921F44FC2A8B}">
      <dsp:nvSpPr>
        <dsp:cNvPr id="0" name=""/>
        <dsp:cNvSpPr/>
      </dsp:nvSpPr>
      <dsp:spPr>
        <a:xfrm>
          <a:off x="4868317" y="0"/>
          <a:ext cx="4524292" cy="381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300" kern="1200" dirty="0" smtClean="0"/>
            <a:t>Bases de Datos</a:t>
          </a:r>
          <a:endParaRPr lang="es-CO" sz="3300" kern="1200" dirty="0"/>
        </a:p>
      </dsp:txBody>
      <dsp:txXfrm>
        <a:off x="4868317" y="0"/>
        <a:ext cx="4524292" cy="1145857"/>
      </dsp:txXfrm>
    </dsp:sp>
    <dsp:sp modelId="{107972A9-EEC9-4BC3-9E47-804B60BA8F38}">
      <dsp:nvSpPr>
        <dsp:cNvPr id="0" name=""/>
        <dsp:cNvSpPr/>
      </dsp:nvSpPr>
      <dsp:spPr>
        <a:xfrm>
          <a:off x="5320747" y="1145857"/>
          <a:ext cx="3619434" cy="24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3808393"/>
                <a:satOff val="-35613"/>
                <a:lumOff val="31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3808393"/>
                <a:satOff val="-35613"/>
                <a:lumOff val="31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3808393"/>
                <a:satOff val="-35613"/>
                <a:lumOff val="31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400" kern="1200" dirty="0" smtClean="0"/>
            <a:t>Microsoft SQL </a:t>
          </a:r>
          <a:r>
            <a:rPr lang="es-CO" sz="2400" kern="1200" dirty="0" smtClean="0"/>
            <a:t>Server</a:t>
          </a:r>
          <a:endParaRPr lang="es-CO" sz="2400" kern="1200" dirty="0" smtClean="0"/>
        </a:p>
      </dsp:txBody>
      <dsp:txXfrm>
        <a:off x="5393463" y="1218573"/>
        <a:ext cx="3474002" cy="2337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82869989-EB00-4EE7-BCB5-25BDC5BB29F8}" type="slidenum">
              <a:rPr lang="en-US" sz="1200" b="0" i="0">
                <a:latin typeface="Arial"/>
                <a:ea typeface="+mn-ea"/>
                <a:cs typeface="+mn-cs"/>
              </a:rPr>
              <a:t>2</a:t>
            </a:fld>
            <a:endParaRPr lang="en-US" sz="1200" b="0" i="0"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3/11/2016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3/11/2016</a:t>
            </a:fld>
            <a:endParaRPr lang="en-US"/>
          </a:p>
        </p:txBody>
      </p: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F629-ECA2-4CF3-B790-9D9BDED98269}" type="datetime1">
              <a:rPr lang="en-US" smtClean="0"/>
              <a:t>3/11/2016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t>3/11/2016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PRESENTACION PROYECTO </a:t>
            </a:r>
            <a:r>
              <a:rPr lang="es-CO" sz="2000" dirty="0" smtClean="0"/>
              <a:t>GLOBALSOFT </a:t>
            </a:r>
            <a:r>
              <a:rPr lang="es-CO" sz="2000" dirty="0" smtClean="0"/>
              <a:t>.NET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4"/>
            <a:ext cx="10991846" cy="478280"/>
          </a:xfrm>
        </p:spPr>
        <p:txBody>
          <a:bodyPr anchor="t">
            <a:normAutofit fontScale="90000"/>
          </a:bodyPr>
          <a:lstStyle/>
          <a:p>
            <a:r>
              <a:rPr lang="es-CO" dirty="0" smtClean="0"/>
              <a:t>DEFINICION GENERAL DEL PROYECTO</a:t>
            </a:r>
            <a:endParaRPr lang="es-ES" noProof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100" noProof="1" smtClean="0">
                <a:hlinkClick r:id="rId3" action="ppaction://hlinksldjump"/>
              </a:rPr>
              <a:t>FASE 0 – Modelado y Definición.</a:t>
            </a:r>
            <a:endParaRPr lang="es-CO" sz="2100" noProof="1" smtClean="0"/>
          </a:p>
          <a:p>
            <a:r>
              <a:rPr lang="es-CO" sz="2100" dirty="0" smtClean="0">
                <a:hlinkClick r:id="rId4" action="ppaction://hlinksldjump"/>
              </a:rPr>
              <a:t>FASE 1 – Preparación.</a:t>
            </a:r>
            <a:endParaRPr lang="es-CO" sz="2100" dirty="0" smtClean="0"/>
          </a:p>
          <a:p>
            <a:r>
              <a:rPr lang="es-CO" sz="2100" dirty="0" smtClean="0">
                <a:hlinkClick r:id="rId5" action="ppaction://hlinksldjump"/>
              </a:rPr>
              <a:t>FASE 2 – Desarrollo de la aplicación.</a:t>
            </a:r>
            <a:endParaRPr lang="es-CO" sz="2100" dirty="0"/>
          </a:p>
          <a:p>
            <a:r>
              <a:rPr lang="es-CO" sz="2100" dirty="0" smtClean="0">
                <a:hlinkClick r:id="rId6" action="ppaction://hlinksldjump"/>
              </a:rPr>
              <a:t>FASE 3 – Pruebas y QA.</a:t>
            </a:r>
            <a:endParaRPr lang="es-CO" sz="2100" dirty="0"/>
          </a:p>
          <a:p>
            <a:r>
              <a:rPr lang="es-CO" sz="2100" dirty="0" smtClean="0">
                <a:hlinkClick r:id="rId6" action="ppaction://hlinksldjump"/>
              </a:rPr>
              <a:t>FASE 4 – Montaje.</a:t>
            </a:r>
            <a:endParaRPr lang="es-CO" sz="2100" dirty="0"/>
          </a:p>
          <a:p>
            <a:r>
              <a:rPr lang="es-CO" sz="2100" dirty="0" smtClean="0">
                <a:hlinkClick r:id="rId7" action="ppaction://hlinksldjump"/>
              </a:rPr>
              <a:t>FASE 5 – Requerimientos pendientes y Nuevos desarrollos.</a:t>
            </a:r>
            <a:endParaRPr lang="es-CO" sz="2100" dirty="0" smtClean="0"/>
          </a:p>
          <a:p>
            <a:endParaRPr lang="en-US" dirty="0" smtClean="0"/>
          </a:p>
        </p:txBody>
      </p:sp>
      <p:sp>
        <p:nvSpPr>
          <p:cNvPr id="4" name="Botón de acción: Información 3">
            <a:hlinkClick r:id="" action="ppaction://hlinkshowjump?jump=lastslide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Conector recto 4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991846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0 – MODELADO Y DEFINICION</a:t>
            </a:r>
            <a:endParaRPr lang="es-CO" dirty="0"/>
          </a:p>
        </p:txBody>
      </p:sp>
      <p:graphicFrame>
        <p:nvGraphicFramePr>
          <p:cNvPr id="14" name="Marcador de contenido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320248"/>
              </p:ext>
            </p:extLst>
          </p:nvPr>
        </p:nvGraphicFramePr>
        <p:xfrm>
          <a:off x="1295400" y="1981199"/>
          <a:ext cx="9397314" cy="3819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Botón de acción: Inicio 9">
            <a:hlinkClick r:id="rId7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Plataforma Tecnológica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07655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991846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0 – MODELADO Y DEFINICION</a:t>
            </a:r>
            <a:endParaRPr lang="es-CO" dirty="0"/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Estructura de la Aplicación</a:t>
            </a:r>
            <a:endParaRPr lang="es-CO" sz="2000" dirty="0"/>
          </a:p>
        </p:txBody>
      </p:sp>
      <p:sp>
        <p:nvSpPr>
          <p:cNvPr id="5" name="Rectángulo 4"/>
          <p:cNvSpPr/>
          <p:nvPr/>
        </p:nvSpPr>
        <p:spPr>
          <a:xfrm>
            <a:off x="2165349" y="1795593"/>
            <a:ext cx="5845176" cy="83121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Interfaz de Usuario </a:t>
            </a:r>
          </a:p>
          <a:p>
            <a:pPr algn="ctr"/>
            <a:r>
              <a:rPr lang="es-CO" dirty="0" err="1" smtClean="0"/>
              <a:t>Globalsoft.App</a:t>
            </a:r>
            <a:r>
              <a:rPr lang="es-CO" dirty="0" smtClean="0"/>
              <a:t> </a:t>
            </a:r>
            <a:r>
              <a:rPr lang="es-CO" dirty="0" smtClean="0"/>
              <a:t>– </a:t>
            </a:r>
            <a:r>
              <a:rPr lang="es-CO" dirty="0" err="1" smtClean="0"/>
              <a:t>Globalsoft.Web</a:t>
            </a:r>
            <a:endParaRPr lang="es-CO" dirty="0"/>
          </a:p>
        </p:txBody>
      </p:sp>
      <p:sp>
        <p:nvSpPr>
          <p:cNvPr id="11" name="Rectángulo 10"/>
          <p:cNvSpPr/>
          <p:nvPr/>
        </p:nvSpPr>
        <p:spPr>
          <a:xfrm>
            <a:off x="2165349" y="2824428"/>
            <a:ext cx="5845176" cy="83121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Lógica de Negocio (BL)</a:t>
            </a:r>
          </a:p>
          <a:p>
            <a:pPr algn="ctr"/>
            <a:r>
              <a:rPr lang="es-CO" dirty="0" err="1" smtClean="0"/>
              <a:t>Globalsoft.BL</a:t>
            </a:r>
            <a:endParaRPr lang="es-CO" dirty="0"/>
          </a:p>
        </p:txBody>
      </p:sp>
      <p:sp>
        <p:nvSpPr>
          <p:cNvPr id="12" name="Rectángulo 11"/>
          <p:cNvSpPr/>
          <p:nvPr/>
        </p:nvSpPr>
        <p:spPr>
          <a:xfrm>
            <a:off x="2165349" y="3856918"/>
            <a:ext cx="5845176" cy="83121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Acceso a Datos (DAL)</a:t>
            </a:r>
          </a:p>
          <a:p>
            <a:pPr algn="ctr"/>
            <a:r>
              <a:rPr lang="es-CO" dirty="0" err="1" smtClean="0"/>
              <a:t>Globalsoft.DataAccess</a:t>
            </a:r>
            <a:endParaRPr lang="es-CO" dirty="0"/>
          </a:p>
        </p:txBody>
      </p:sp>
      <p:sp>
        <p:nvSpPr>
          <p:cNvPr id="13" name="Rectángulo 12"/>
          <p:cNvSpPr/>
          <p:nvPr/>
        </p:nvSpPr>
        <p:spPr>
          <a:xfrm>
            <a:off x="2165349" y="5372100"/>
            <a:ext cx="7970324" cy="6437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Repositorio de Datos</a:t>
            </a:r>
          </a:p>
          <a:p>
            <a:pPr algn="ctr"/>
            <a:r>
              <a:rPr lang="es-CO" dirty="0" smtClean="0"/>
              <a:t>SQL </a:t>
            </a:r>
            <a:r>
              <a:rPr lang="es-CO" dirty="0" smtClean="0"/>
              <a:t>Server</a:t>
            </a:r>
            <a:endParaRPr lang="es-CO" dirty="0"/>
          </a:p>
        </p:txBody>
      </p:sp>
      <p:sp>
        <p:nvSpPr>
          <p:cNvPr id="8" name="Rectángulo redondeado 7"/>
          <p:cNvSpPr/>
          <p:nvPr/>
        </p:nvSpPr>
        <p:spPr>
          <a:xfrm>
            <a:off x="8099795" y="1795593"/>
            <a:ext cx="2035878" cy="289070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smtClean="0"/>
              <a:t>Capa Transversal</a:t>
            </a:r>
          </a:p>
          <a:p>
            <a:pPr algn="ctr"/>
            <a:r>
              <a:rPr lang="es-CO" sz="1600" dirty="0" err="1" smtClean="0"/>
              <a:t>Globalsoft.Shared</a:t>
            </a:r>
            <a:endParaRPr lang="es-CO" sz="1600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2165349" y="4848225"/>
            <a:ext cx="7970324" cy="36195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 smtClean="0"/>
              <a:t>Entity</a:t>
            </a:r>
            <a:r>
              <a:rPr lang="es-CO" dirty="0" smtClean="0"/>
              <a:t> Framework</a:t>
            </a:r>
            <a:endParaRPr lang="es-CO" dirty="0"/>
          </a:p>
        </p:txBody>
      </p:sp>
      <p:sp>
        <p:nvSpPr>
          <p:cNvPr id="16" name="Flecha abajo 15"/>
          <p:cNvSpPr/>
          <p:nvPr/>
        </p:nvSpPr>
        <p:spPr>
          <a:xfrm>
            <a:off x="4610100" y="2626808"/>
            <a:ext cx="781050" cy="316417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 abajo 17"/>
          <p:cNvSpPr/>
          <p:nvPr/>
        </p:nvSpPr>
        <p:spPr>
          <a:xfrm>
            <a:off x="4610100" y="3665372"/>
            <a:ext cx="781050" cy="316417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 abajo 18"/>
          <p:cNvSpPr/>
          <p:nvPr/>
        </p:nvSpPr>
        <p:spPr>
          <a:xfrm>
            <a:off x="4610100" y="4682397"/>
            <a:ext cx="781050" cy="316417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 abajo 20"/>
          <p:cNvSpPr/>
          <p:nvPr/>
        </p:nvSpPr>
        <p:spPr>
          <a:xfrm>
            <a:off x="4610100" y="5210175"/>
            <a:ext cx="781050" cy="31641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 abajo 21"/>
          <p:cNvSpPr/>
          <p:nvPr/>
        </p:nvSpPr>
        <p:spPr>
          <a:xfrm flipH="1" flipV="1">
            <a:off x="7162800" y="5051966"/>
            <a:ext cx="781050" cy="31641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 abajo 22"/>
          <p:cNvSpPr/>
          <p:nvPr/>
        </p:nvSpPr>
        <p:spPr>
          <a:xfrm flipV="1">
            <a:off x="7162800" y="4531808"/>
            <a:ext cx="781050" cy="31641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 abajo 23"/>
          <p:cNvSpPr/>
          <p:nvPr/>
        </p:nvSpPr>
        <p:spPr>
          <a:xfrm flipV="1">
            <a:off x="7162800" y="3540501"/>
            <a:ext cx="781050" cy="316417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Flecha abajo 24"/>
          <p:cNvSpPr/>
          <p:nvPr/>
        </p:nvSpPr>
        <p:spPr>
          <a:xfrm flipV="1">
            <a:off x="7162800" y="2504294"/>
            <a:ext cx="781050" cy="316417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063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0 – MODELADO Y DEFINICION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Diseño en 4 Capas</a:t>
            </a:r>
          </a:p>
          <a:p>
            <a:pPr lvl="1"/>
            <a:r>
              <a:rPr lang="es-CO" dirty="0" smtClean="0"/>
              <a:t>Permite Facilidad en la definición y determinación de responsabilidades.</a:t>
            </a:r>
          </a:p>
          <a:p>
            <a:pPr lvl="1"/>
            <a:r>
              <a:rPr lang="es-CO" dirty="0" smtClean="0"/>
              <a:t>Configuración modular del proyecto permite su modificación sin afectar otras capas.</a:t>
            </a:r>
          </a:p>
          <a:p>
            <a:pPr lvl="1"/>
            <a:r>
              <a:rPr lang="es-CO" dirty="0" smtClean="0"/>
              <a:t>Las modificaciones a un proceso se encapsulan y se disminuye el riesgo de generar inestabilidad por errores o resultados no esperados.</a:t>
            </a:r>
          </a:p>
          <a:p>
            <a:pPr lvl="1"/>
            <a:r>
              <a:rPr lang="es-CO" dirty="0" smtClean="0"/>
              <a:t>Permite escalar la aplicación a futuro mediante el uso de capas intermedias.</a:t>
            </a:r>
          </a:p>
          <a:p>
            <a:r>
              <a:rPr lang="es-CO" dirty="0" smtClean="0"/>
              <a:t>Patrones de diseño de alto nivel para garantizar la separación de responsabilidades.</a:t>
            </a:r>
          </a:p>
          <a:p>
            <a:r>
              <a:rPr lang="es-CO" dirty="0" err="1" smtClean="0"/>
              <a:t>EntityFramework</a:t>
            </a:r>
            <a:r>
              <a:rPr lang="es-CO" dirty="0"/>
              <a:t> </a:t>
            </a:r>
            <a:r>
              <a:rPr lang="es-CO" dirty="0" smtClean="0"/>
              <a:t>: Motor de Mapeo Relacional - Objeto que simplifica el acceso y almacenamiento de la información en la base de datos.</a:t>
            </a:r>
            <a:endParaRPr lang="es-CO" dirty="0"/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Estructura de la Aplicación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78627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0 – MODELADO Y DEFINICION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hará uso del mismo modelo base que en la actualidad usa la aplicación.</a:t>
            </a:r>
          </a:p>
          <a:p>
            <a:r>
              <a:rPr lang="es-CO" dirty="0" smtClean="0"/>
              <a:t>Se efectuaran cambios a la estructura necesarios para su funcionamiento con las herramientas y nueva estructura de la aplicación.</a:t>
            </a:r>
          </a:p>
          <a:p>
            <a:r>
              <a:rPr lang="es-CO" dirty="0" smtClean="0"/>
              <a:t>Cada tabla en la base de datos será representada por un equivalente en la aplicación (Modelo), esta representación o mapeo ser hará de manera manual.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Modelo de datos</a:t>
            </a:r>
            <a:endParaRPr lang="es-CO" sz="2000" dirty="0"/>
          </a:p>
        </p:txBody>
      </p:sp>
      <p:grpSp>
        <p:nvGrpSpPr>
          <p:cNvPr id="30" name="Grupo 29"/>
          <p:cNvGrpSpPr/>
          <p:nvPr/>
        </p:nvGrpSpPr>
        <p:grpSpPr>
          <a:xfrm>
            <a:off x="2047875" y="4200525"/>
            <a:ext cx="1409700" cy="1371600"/>
            <a:chOff x="2047875" y="4267200"/>
            <a:chExt cx="1409700" cy="1371600"/>
          </a:xfrm>
        </p:grpSpPr>
        <p:sp>
          <p:nvSpPr>
            <p:cNvPr id="5" name="Cilindro 4"/>
            <p:cNvSpPr/>
            <p:nvPr/>
          </p:nvSpPr>
          <p:spPr>
            <a:xfrm>
              <a:off x="2047875" y="4267200"/>
              <a:ext cx="1409700" cy="1371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2166937" y="4764044"/>
              <a:ext cx="1171575" cy="63817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CO" dirty="0" smtClean="0"/>
                <a:t>Tablas</a:t>
              </a:r>
              <a:endParaRPr lang="es-CO" dirty="0"/>
            </a:p>
          </p:txBody>
        </p:sp>
        <p:cxnSp>
          <p:nvCxnSpPr>
            <p:cNvPr id="12" name="Conector recto 11"/>
            <p:cNvCxnSpPr/>
            <p:nvPr/>
          </p:nvCxnSpPr>
          <p:spPr>
            <a:xfrm>
              <a:off x="2295525" y="4762500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>
              <a:off x="2424113" y="4762499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2552701" y="4758726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>
              <a:off x="2677318" y="4761987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2806702" y="4758726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2936876" y="4758726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>
            <a:xfrm>
              <a:off x="3065463" y="4763661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>
            <a:xfrm>
              <a:off x="3200400" y="4759689"/>
              <a:ext cx="3175" cy="63971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Conector recto 23"/>
            <p:cNvCxnSpPr/>
            <p:nvPr/>
          </p:nvCxnSpPr>
          <p:spPr>
            <a:xfrm flipV="1">
              <a:off x="2166937" y="4870450"/>
              <a:ext cx="1171575" cy="317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Conector recto 25"/>
            <p:cNvCxnSpPr/>
            <p:nvPr/>
          </p:nvCxnSpPr>
          <p:spPr>
            <a:xfrm flipV="1">
              <a:off x="2166936" y="4983206"/>
              <a:ext cx="1171575" cy="317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Conector recto 26"/>
            <p:cNvCxnSpPr/>
            <p:nvPr/>
          </p:nvCxnSpPr>
          <p:spPr>
            <a:xfrm flipV="1">
              <a:off x="2166936" y="5095318"/>
              <a:ext cx="1171575" cy="317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Conector recto 27"/>
            <p:cNvCxnSpPr/>
            <p:nvPr/>
          </p:nvCxnSpPr>
          <p:spPr>
            <a:xfrm flipV="1">
              <a:off x="2166935" y="5205090"/>
              <a:ext cx="1171575" cy="317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Conector recto 28"/>
            <p:cNvCxnSpPr/>
            <p:nvPr/>
          </p:nvCxnSpPr>
          <p:spPr>
            <a:xfrm flipV="1">
              <a:off x="2166934" y="5306207"/>
              <a:ext cx="1171575" cy="317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1" name="CuadroTexto 30"/>
          <p:cNvSpPr txBox="1"/>
          <p:nvPr/>
        </p:nvSpPr>
        <p:spPr>
          <a:xfrm>
            <a:off x="1885946" y="5541490"/>
            <a:ext cx="171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Base de Datos</a:t>
            </a:r>
            <a:endParaRPr lang="es-CO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5" name="Grupo 34"/>
          <p:cNvGrpSpPr/>
          <p:nvPr/>
        </p:nvGrpSpPr>
        <p:grpSpPr>
          <a:xfrm>
            <a:off x="6515100" y="4388966"/>
            <a:ext cx="2266950" cy="975669"/>
            <a:chOff x="6029325" y="4349707"/>
            <a:chExt cx="2266950" cy="1073236"/>
          </a:xfrm>
        </p:grpSpPr>
        <p:sp>
          <p:nvSpPr>
            <p:cNvPr id="4" name="Rectángulo redondeado 3"/>
            <p:cNvSpPr/>
            <p:nvPr/>
          </p:nvSpPr>
          <p:spPr>
            <a:xfrm>
              <a:off x="6029325" y="4349707"/>
              <a:ext cx="2266950" cy="107323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s-CO" dirty="0" smtClean="0"/>
                <a:t>Modelo</a:t>
              </a:r>
              <a:endParaRPr lang="es-CO" dirty="0"/>
            </a:p>
          </p:txBody>
        </p:sp>
        <p:sp>
          <p:nvSpPr>
            <p:cNvPr id="33" name="Rectángulo redondeado 32"/>
            <p:cNvSpPr/>
            <p:nvPr/>
          </p:nvSpPr>
          <p:spPr>
            <a:xfrm>
              <a:off x="6257925" y="4739676"/>
              <a:ext cx="1798294" cy="595311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 smtClean="0"/>
                <a:t>Clases</a:t>
              </a:r>
              <a:endParaRPr lang="es-CO" dirty="0"/>
            </a:p>
          </p:txBody>
        </p:sp>
      </p:grpSp>
      <p:sp>
        <p:nvSpPr>
          <p:cNvPr id="36" name="Rectángulo 35"/>
          <p:cNvSpPr/>
          <p:nvPr/>
        </p:nvSpPr>
        <p:spPr>
          <a:xfrm>
            <a:off x="3957639" y="4429125"/>
            <a:ext cx="2090736" cy="902645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 smtClean="0"/>
              <a:t>Entity</a:t>
            </a:r>
            <a:r>
              <a:rPr lang="es-CO" dirty="0" smtClean="0"/>
              <a:t> Framework</a:t>
            </a:r>
            <a:endParaRPr lang="es-CO" dirty="0"/>
          </a:p>
        </p:txBody>
      </p:sp>
      <p:cxnSp>
        <p:nvCxnSpPr>
          <p:cNvPr id="38" name="Conector recto de flecha 37"/>
          <p:cNvCxnSpPr>
            <a:stCxn id="5" idx="4"/>
            <a:endCxn id="36" idx="1"/>
          </p:cNvCxnSpPr>
          <p:nvPr/>
        </p:nvCxnSpPr>
        <p:spPr>
          <a:xfrm flipV="1">
            <a:off x="3457575" y="4880448"/>
            <a:ext cx="500064" cy="58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>
            <a:stCxn id="36" idx="3"/>
            <a:endCxn id="4" idx="1"/>
          </p:cNvCxnSpPr>
          <p:nvPr/>
        </p:nvCxnSpPr>
        <p:spPr>
          <a:xfrm flipV="1">
            <a:off x="6048375" y="4876801"/>
            <a:ext cx="466725" cy="36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6919909" y="5541490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Aplicación</a:t>
            </a:r>
            <a:endParaRPr lang="es-CO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51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 animBg="1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1 – PREPARACION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dirty="0" smtClean="0"/>
              <a:t>Montaje Ambiente de Prueba</a:t>
            </a:r>
          </a:p>
          <a:p>
            <a:r>
              <a:rPr lang="es-CO" dirty="0" smtClean="0"/>
              <a:t>Definición Estrategia </a:t>
            </a:r>
            <a:r>
              <a:rPr lang="es-CO" dirty="0"/>
              <a:t>de </a:t>
            </a:r>
            <a:r>
              <a:rPr lang="es-CO" dirty="0" smtClean="0"/>
              <a:t>Instalación</a:t>
            </a:r>
          </a:p>
          <a:p>
            <a:pPr lvl="1"/>
            <a:r>
              <a:rPr lang="es-CO" dirty="0" smtClean="0"/>
              <a:t>Prerrequisitos para instalación</a:t>
            </a:r>
          </a:p>
          <a:p>
            <a:pPr lvl="2"/>
            <a:r>
              <a:rPr lang="es-CO" dirty="0" err="1" smtClean="0"/>
              <a:t>Microsoft.Net</a:t>
            </a:r>
            <a:r>
              <a:rPr lang="es-CO" dirty="0" smtClean="0"/>
              <a:t> Framework </a:t>
            </a:r>
            <a:r>
              <a:rPr lang="es-CO" dirty="0" smtClean="0"/>
              <a:t>4.6,1 </a:t>
            </a:r>
            <a:r>
              <a:rPr lang="es-CO" dirty="0" smtClean="0"/>
              <a:t>o Superior.</a:t>
            </a:r>
          </a:p>
          <a:p>
            <a:pPr lvl="2"/>
            <a:r>
              <a:rPr lang="es-CO" dirty="0" smtClean="0"/>
              <a:t>Microsoft SQL Server </a:t>
            </a:r>
            <a:r>
              <a:rPr lang="es-CO" dirty="0" smtClean="0"/>
              <a:t>2014 </a:t>
            </a:r>
            <a:r>
              <a:rPr lang="es-CO" dirty="0" smtClean="0"/>
              <a:t>o Superior, Cualquier versión (desde gratuita a Enterprise).</a:t>
            </a:r>
          </a:p>
          <a:p>
            <a:pPr lvl="1"/>
            <a:r>
              <a:rPr lang="es-CO" dirty="0" smtClean="0"/>
              <a:t>Proceso de instalación integrado en la aplicación.</a:t>
            </a:r>
          </a:p>
          <a:p>
            <a:pPr lvl="2"/>
            <a:r>
              <a:rPr lang="es-CO" dirty="0" smtClean="0"/>
              <a:t>Sin necesidad de ejecución de scripts o procesos manuales por parte del tecnico instalador.</a:t>
            </a:r>
          </a:p>
          <a:p>
            <a:pPr lvl="2"/>
            <a:r>
              <a:rPr lang="es-CO" dirty="0" smtClean="0"/>
              <a:t>De alta velocidad, bajo riesgo y poca complejidad.</a:t>
            </a:r>
          </a:p>
          <a:p>
            <a:r>
              <a:rPr lang="es-CO" dirty="0" smtClean="0"/>
              <a:t>Definición Estrategia de Despliegue y distribución</a:t>
            </a:r>
            <a:endParaRPr lang="es-CO" dirty="0"/>
          </a:p>
          <a:p>
            <a:pPr lvl="1"/>
            <a:r>
              <a:rPr lang="es-CO" dirty="0" err="1" smtClean="0"/>
              <a:t>ClickOnce</a:t>
            </a:r>
            <a:endParaRPr lang="es-CO" dirty="0" smtClean="0"/>
          </a:p>
          <a:p>
            <a:pPr lvl="2"/>
            <a:r>
              <a:rPr lang="es-CO" dirty="0" smtClean="0"/>
              <a:t>Distribución desde servidor central en la nube a todos los clientes</a:t>
            </a:r>
          </a:p>
          <a:p>
            <a:pPr lvl="2"/>
            <a:r>
              <a:rPr lang="es-CO" dirty="0" smtClean="0"/>
              <a:t>Distribución desde servidor en red local a todos los equipos de la red</a:t>
            </a:r>
          </a:p>
          <a:p>
            <a:endParaRPr lang="es-CO" dirty="0" smtClean="0"/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Estrategias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4362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1 – PREPARACION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Definición Esquema de Licenciamiento</a:t>
            </a:r>
          </a:p>
          <a:p>
            <a:pPr lvl="1"/>
            <a:r>
              <a:rPr lang="es-CO" dirty="0" smtClean="0"/>
              <a:t>Por Definir</a:t>
            </a:r>
            <a:endParaRPr lang="es-CO" dirty="0" smtClean="0"/>
          </a:p>
          <a:p>
            <a:r>
              <a:rPr lang="es-CO" dirty="0" smtClean="0"/>
              <a:t>Definición Proceso de importación información histórica</a:t>
            </a:r>
          </a:p>
          <a:p>
            <a:pPr lvl="1"/>
            <a:r>
              <a:rPr lang="es-CO" dirty="0" smtClean="0"/>
              <a:t>Establecer plan de Corte y Montaje (</a:t>
            </a:r>
            <a:r>
              <a:rPr lang="es-CO" dirty="0" err="1" smtClean="0"/>
              <a:t>Cutover</a:t>
            </a:r>
            <a:r>
              <a:rPr lang="es-CO" dirty="0" smtClean="0"/>
              <a:t>)</a:t>
            </a:r>
            <a:endParaRPr lang="es-CO" dirty="0"/>
          </a:p>
          <a:p>
            <a:pPr lvl="1"/>
            <a:r>
              <a:rPr lang="es-CO" dirty="0" smtClean="0"/>
              <a:t>Información susceptible a ser migrada.</a:t>
            </a:r>
          </a:p>
          <a:p>
            <a:pPr lvl="1"/>
            <a:r>
              <a:rPr lang="es-CO" dirty="0" smtClean="0"/>
              <a:t>Información que no puede ser migrada (Por cambios fundamentales en estructura o con data no contemplada en software anterior).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Licenciamiento y Migración de Datos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61556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2 – DESARROLLO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Desarrollo Componente de Sincronización de Datos Cliente a Servidor  – </a:t>
            </a:r>
            <a:r>
              <a:rPr lang="es-CO" dirty="0" err="1" smtClean="0"/>
              <a:t>GSSync</a:t>
            </a:r>
            <a:endParaRPr lang="es-CO" dirty="0" smtClean="0"/>
          </a:p>
          <a:p>
            <a:r>
              <a:rPr lang="es-CO" dirty="0" smtClean="0"/>
              <a:t>Desarrollo Modulo de Control de Cocina – </a:t>
            </a:r>
            <a:r>
              <a:rPr lang="es-CO" dirty="0" err="1" smtClean="0"/>
              <a:t>GlobalKDS</a:t>
            </a:r>
            <a:endParaRPr lang="es-CO" dirty="0" smtClean="0"/>
          </a:p>
          <a:p>
            <a:r>
              <a:rPr lang="es-CO" dirty="0" smtClean="0"/>
              <a:t>Desarrollo Sistema Analítico e Inteligencia de Negocio – </a:t>
            </a:r>
            <a:r>
              <a:rPr lang="es-CO" dirty="0" err="1" smtClean="0"/>
              <a:t>GlobalAnalytics</a:t>
            </a:r>
            <a:endParaRPr lang="es-CO" dirty="0" smtClean="0"/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Definición de alcance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97571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2 – DESARROLLO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Desarrollo Componente de Sincronización de Datos Cliente a Servidor  – </a:t>
            </a:r>
            <a:r>
              <a:rPr lang="es-CO" dirty="0" err="1"/>
              <a:t>GSSync</a:t>
            </a:r>
            <a:endParaRPr lang="es-CO" dirty="0"/>
          </a:p>
          <a:p>
            <a:pPr lvl="1"/>
            <a:r>
              <a:rPr lang="es-CO" dirty="0"/>
              <a:t>Creación de modelo.</a:t>
            </a:r>
          </a:p>
          <a:p>
            <a:pPr lvl="1"/>
            <a:r>
              <a:rPr lang="es-CO" dirty="0"/>
              <a:t>Creación de Repositorio – </a:t>
            </a:r>
            <a:r>
              <a:rPr lang="es-CO" dirty="0" err="1"/>
              <a:t>EntityFramework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Creación Capa de Negocios.</a:t>
            </a:r>
          </a:p>
          <a:p>
            <a:pPr lvl="1"/>
            <a:r>
              <a:rPr lang="es-CO" dirty="0"/>
              <a:t>Creación Capa de Servicios </a:t>
            </a:r>
            <a:r>
              <a:rPr lang="es-CO" dirty="0" err="1"/>
              <a:t>WebAPI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Creación de sistema de replicación de Base de Datos – </a:t>
            </a:r>
            <a:r>
              <a:rPr lang="es-CO" dirty="0" err="1"/>
              <a:t>GSSync</a:t>
            </a:r>
            <a:r>
              <a:rPr lang="es-CO" dirty="0"/>
              <a:t> Service.</a:t>
            </a:r>
          </a:p>
          <a:p>
            <a:pPr lvl="1"/>
            <a:r>
              <a:rPr lang="es-CO" dirty="0"/>
              <a:t>Ejecutar Pruebas e Implementar.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Desarrollo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42283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2 – DESARROLLO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Desarrollo Modulo de Control de Cocina – </a:t>
            </a:r>
            <a:r>
              <a:rPr lang="es-CO" dirty="0" err="1" smtClean="0"/>
              <a:t>GlobalKDS</a:t>
            </a:r>
            <a:endParaRPr lang="es-CO" dirty="0"/>
          </a:p>
          <a:p>
            <a:pPr lvl="1"/>
            <a:r>
              <a:rPr lang="es-CO" dirty="0" smtClean="0"/>
              <a:t>Ajustar modelo para integrar nuevas entidades.</a:t>
            </a:r>
            <a:endParaRPr lang="es-CO" dirty="0"/>
          </a:p>
          <a:p>
            <a:pPr lvl="1"/>
            <a:r>
              <a:rPr lang="es-CO" dirty="0" smtClean="0"/>
              <a:t>Crear </a:t>
            </a:r>
            <a:r>
              <a:rPr lang="es-CO" dirty="0" err="1" smtClean="0"/>
              <a:t>Façades</a:t>
            </a:r>
            <a:r>
              <a:rPr lang="es-CO" dirty="0" smtClean="0"/>
              <a:t> necesarias.</a:t>
            </a:r>
            <a:endParaRPr lang="es-CO" dirty="0"/>
          </a:p>
          <a:p>
            <a:pPr lvl="1"/>
            <a:r>
              <a:rPr lang="es-CO" dirty="0" smtClean="0"/>
              <a:t>Crear Capa de Cliente MVC</a:t>
            </a:r>
            <a:endParaRPr lang="es-CO" dirty="0"/>
          </a:p>
          <a:p>
            <a:pPr lvl="1"/>
            <a:r>
              <a:rPr lang="es-CO" dirty="0" smtClean="0"/>
              <a:t>Ejecutar </a:t>
            </a:r>
            <a:r>
              <a:rPr lang="es-CO" dirty="0"/>
              <a:t>Pruebas e Implementar.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Desarrollo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2163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2 – DESARROLLO DE LA APLICACION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Desarrollo Sistema Analítico e Inteligencia de Negocio – </a:t>
            </a:r>
            <a:r>
              <a:rPr lang="es-CO" dirty="0" err="1"/>
              <a:t>GlobalAnalytics</a:t>
            </a:r>
            <a:endParaRPr lang="es-CO" dirty="0"/>
          </a:p>
          <a:p>
            <a:pPr lvl="1"/>
            <a:r>
              <a:rPr lang="es-CO" dirty="0" smtClean="0"/>
              <a:t>Definición del modelo a seguir y esquema de autenticación.</a:t>
            </a:r>
            <a:endParaRPr lang="es-CO" dirty="0"/>
          </a:p>
          <a:p>
            <a:pPr lvl="1"/>
            <a:r>
              <a:rPr lang="es-CO" dirty="0" smtClean="0"/>
              <a:t>Crear Estructura de Proyecto.</a:t>
            </a:r>
            <a:endParaRPr lang="es-CO" dirty="0"/>
          </a:p>
          <a:p>
            <a:pPr lvl="1"/>
            <a:r>
              <a:rPr lang="es-CO" dirty="0" smtClean="0"/>
              <a:t>Definir Alcance y Desarrollar.</a:t>
            </a:r>
            <a:endParaRPr lang="es-CO" dirty="0"/>
          </a:p>
          <a:p>
            <a:pPr lvl="1"/>
            <a:r>
              <a:rPr lang="es-CO" dirty="0" smtClean="0"/>
              <a:t>Ejecutar </a:t>
            </a:r>
            <a:r>
              <a:rPr lang="es-CO" dirty="0"/>
              <a:t>Pruebas e Implementar.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Desarrollo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2328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3 – PRUEBAS Y Q/A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Definir esquema de numeración de versiones para seguimiento a cambios.</a:t>
            </a:r>
          </a:p>
          <a:p>
            <a:r>
              <a:rPr lang="es-CO" dirty="0" smtClean="0"/>
              <a:t>En Etapa de Desarrollo</a:t>
            </a:r>
          </a:p>
          <a:p>
            <a:pPr lvl="1"/>
            <a:r>
              <a:rPr lang="es-CO" dirty="0" smtClean="0"/>
              <a:t>Definir un esquema para la validación de los desarrollos efectuados.</a:t>
            </a:r>
          </a:p>
          <a:p>
            <a:pPr lvl="1"/>
            <a:r>
              <a:rPr lang="es-CO" dirty="0" smtClean="0"/>
              <a:t>Formato de cambios, ajustes y correcciones.</a:t>
            </a:r>
          </a:p>
          <a:p>
            <a:r>
              <a:rPr lang="es-CO" dirty="0" smtClean="0"/>
              <a:t>En Etapa Productiva</a:t>
            </a:r>
          </a:p>
          <a:p>
            <a:pPr lvl="1"/>
            <a:r>
              <a:rPr lang="es-CO" dirty="0" smtClean="0"/>
              <a:t>Configurar servidor de Pruebas y Q/A.</a:t>
            </a:r>
          </a:p>
          <a:p>
            <a:pPr lvl="1"/>
            <a:r>
              <a:rPr lang="es-CO" dirty="0" smtClean="0"/>
              <a:t>Instalación del software de Q/A en maquinas de consultores para pruebas de cambios.</a:t>
            </a:r>
          </a:p>
          <a:p>
            <a:pPr lvl="1"/>
            <a:r>
              <a:rPr lang="es-CO" dirty="0" smtClean="0"/>
              <a:t>Definir encargado de Despliegue.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 smtClean="0"/>
              <a:t>Definiciones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731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92" y="503853"/>
            <a:ext cx="10272708" cy="1142385"/>
          </a:xfrm>
          <a:ln>
            <a:noFill/>
          </a:ln>
        </p:spPr>
        <p:txBody>
          <a:bodyPr anchor="t">
            <a:normAutofit/>
          </a:bodyPr>
          <a:lstStyle/>
          <a:p>
            <a:r>
              <a:rPr lang="es-CO" dirty="0" smtClean="0"/>
              <a:t>FASE 4 – Montaje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Seleccionar clientes potenciales para la implementación</a:t>
            </a:r>
          </a:p>
          <a:p>
            <a:r>
              <a:rPr lang="es-CO" dirty="0" smtClean="0"/>
              <a:t>Definir estrategia de implementación para clientes potenciales.</a:t>
            </a:r>
          </a:p>
          <a:p>
            <a:pPr lvl="1"/>
            <a:r>
              <a:rPr lang="es-CO" dirty="0" smtClean="0"/>
              <a:t>Beneficios.</a:t>
            </a:r>
          </a:p>
          <a:p>
            <a:pPr lvl="1"/>
            <a:r>
              <a:rPr lang="es-CO" dirty="0" smtClean="0"/>
              <a:t>Estrategia de soporte especial</a:t>
            </a:r>
          </a:p>
          <a:p>
            <a:pPr lvl="1"/>
            <a:r>
              <a:rPr lang="es-CO" dirty="0" smtClean="0"/>
              <a:t>Definición de información susceptible a migración y exclusiones</a:t>
            </a:r>
          </a:p>
          <a:p>
            <a:pPr lvl="1"/>
            <a:r>
              <a:rPr lang="es-CO" dirty="0" smtClean="0"/>
              <a:t>Definición </a:t>
            </a:r>
            <a:r>
              <a:rPr lang="es-CO" dirty="0"/>
              <a:t>de plan </a:t>
            </a:r>
            <a:r>
              <a:rPr lang="es-CO" dirty="0" smtClean="0"/>
              <a:t>de Corte (</a:t>
            </a:r>
            <a:r>
              <a:rPr lang="es-CO" dirty="0" err="1" smtClean="0"/>
              <a:t>CutOver</a:t>
            </a:r>
            <a:r>
              <a:rPr lang="es-CO" dirty="0" smtClean="0"/>
              <a:t>) y salida en </a:t>
            </a:r>
            <a:r>
              <a:rPr lang="es-CO" dirty="0" smtClean="0"/>
              <a:t>vivo con nuevo sistema.</a:t>
            </a:r>
            <a:endParaRPr lang="es-CO" dirty="0" smtClean="0"/>
          </a:p>
          <a:p>
            <a:pPr lvl="1"/>
            <a:r>
              <a:rPr lang="es-CO" dirty="0" smtClean="0"/>
              <a:t>Aplicación </a:t>
            </a:r>
            <a:r>
              <a:rPr lang="es-CO" dirty="0" smtClean="0"/>
              <a:t>de Plan de corte y salida en vivo</a:t>
            </a:r>
          </a:p>
          <a:p>
            <a:r>
              <a:rPr lang="es-CO" dirty="0" smtClean="0"/>
              <a:t>Montaje y Entrega a Soporte</a:t>
            </a:r>
          </a:p>
        </p:txBody>
      </p:sp>
      <p:sp>
        <p:nvSpPr>
          <p:cNvPr id="10" name="Botón de acción: Inicio 9">
            <a:hlinkClick r:id="rId2" action="ppaction://hlinksldjump" highlightClick="1"/>
          </p:cNvPr>
          <p:cNvSpPr/>
          <p:nvPr/>
        </p:nvSpPr>
        <p:spPr>
          <a:xfrm>
            <a:off x="10692714" y="5445211"/>
            <a:ext cx="799070" cy="65902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/>
          <p:nvPr/>
        </p:nvCxnSpPr>
        <p:spPr>
          <a:xfrm>
            <a:off x="623892" y="1646238"/>
            <a:ext cx="10991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/>
          <p:cNvSpPr txBox="1">
            <a:spLocks/>
          </p:cNvSpPr>
          <p:nvPr/>
        </p:nvSpPr>
        <p:spPr>
          <a:xfrm>
            <a:off x="623892" y="1016000"/>
            <a:ext cx="10991846" cy="512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26275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087C0F-7449-45C4-B248-63D02665B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con cuadrícula de diamante (pantalla ancha)</Template>
  <TotalTime>0</TotalTime>
  <Words>772</Words>
  <Application>Microsoft Office PowerPoint</Application>
  <PresentationFormat>Panorámica</PresentationFormat>
  <Paragraphs>118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Diamond Grid 16x9</vt:lpstr>
      <vt:lpstr>PRESENTACION PROYECTO GLOBALSOFT .NET</vt:lpstr>
      <vt:lpstr>DEFINICION GENERAL DEL PROYECTO</vt:lpstr>
      <vt:lpstr>FASE 0 – MODELADO Y DEFINICION</vt:lpstr>
      <vt:lpstr>FASE 0 – MODELADO Y DEFINICION</vt:lpstr>
      <vt:lpstr>FASE 0 – MODELADO Y DEFINICION</vt:lpstr>
      <vt:lpstr>FASE 0 – MODELADO Y DEFINICION</vt:lpstr>
      <vt:lpstr>FASE 1 – PREPARACION DE LA APLICACION</vt:lpstr>
      <vt:lpstr>FASE 1 – PREPARACION DE LA APLICACION</vt:lpstr>
      <vt:lpstr>FASE 2 – DESARROLLO DE LA APLICACION</vt:lpstr>
      <vt:lpstr>FASE 2 – DESARROLLO DE LA APLICACION</vt:lpstr>
      <vt:lpstr>FASE 2 – DESARROLLO DE LA APLICACION</vt:lpstr>
      <vt:lpstr>FASE 2 – DESARROLLO DE LA APLICACION</vt:lpstr>
      <vt:lpstr>FASE 3 – PRUEBAS Y Q/A</vt:lpstr>
      <vt:lpstr>FASE 4 – Montaje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2013-04-06T01:24:22Z</dcterms:created>
  <dcterms:modified xsi:type="dcterms:W3CDTF">2016-03-12T05:30:24Z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TC030310159991</vt:lpwstr>
  </property>
</Properties>
</file>